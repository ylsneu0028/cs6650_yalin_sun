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604"/>
    <p:restoredTop sz="94610"/>
  </p:normalViewPr>
  <p:slideViewPr>
    <p:cSldViewPr snapToGrid="0" snapToObjects="1">
      <p:cViewPr varScale="1">
        <p:scale>
          <a:sx n="196" d="100"/>
          <a:sy n="196" d="100"/>
        </p:scale>
        <p:origin x="184" y="4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07085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-apple-system"/>
              </a:rPr>
              <a:t>Hi, my name is </a:t>
            </a:r>
            <a:r>
              <a:rPr lang="en-US" b="0" i="0" dirty="0" err="1">
                <a:effectLst/>
                <a:latin typeface="-apple-system"/>
              </a:rPr>
              <a:t>Yalin</a:t>
            </a:r>
            <a:r>
              <a:rPr lang="en-US" b="0" i="0" dirty="0">
                <a:effectLst/>
                <a:latin typeface="-apple-system"/>
              </a:rPr>
              <a:t> Sun. Today I want to introduce my final project: a scalable LLM-backed Q&amp;A system using RAG.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-apple-system"/>
              </a:rPr>
              <a:t>The problem is simple. Many teams have a lot of internal documents, like notes, policies, or technical specs. But keyword search is not enough. People ask real questions, and answers can be spread across different files. So I want a system that can read your documents and answer questions with the right context.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-apple-system"/>
              </a:rPr>
              <a:t>My system works like this. First, you upload text or markdown documents. The backend splits the documents into small chunks. Then it builds embeddings and stores them in a vector index. When a user asks a question, the system embeds the question, retrieves the top‑K relevant chunks, and sends them to an LLM to generate the final answer. The key point is: the answer is grounded on retrieved document content, not only the model’s memory.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-apple-system"/>
              </a:rPr>
              <a:t>To make it scalable, I separate the system into services in Docker Compose: an API service, an embedding service, a vector search service, and an LLM inference service. This helps me scale each part independently and find the bottleneck.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-apple-system"/>
              </a:rPr>
              <a:t>My experiments focus on three things. First, concurrency: what happens to mean and P95 latency when we go from 10 to 50 to 200 users. Second, index size: how retrieval latency and memory change from 1k to 10k to 100k chunks. Third, horizontal scaling: if I run 1, 2, or 4 replicas of the bottleneck tier, how much throughput improves and whether we see diminishing returns.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effectLst/>
                <a:latin typeface="-apple-system"/>
              </a:rPr>
              <a:t>The impact is that this project is not only a RAG demo. It is about operating RAG under load with clear measurements and observability. I will share Docker and scripts, so classmates can also run it and help test it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at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the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end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of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the</a:t>
            </a:r>
            <a:r>
              <a:rPr lang="zh-CN" altLang="en-US" b="0" i="0" dirty="0">
                <a:effectLst/>
                <a:latin typeface="-apple-system"/>
              </a:rPr>
              <a:t> </a:t>
            </a:r>
            <a:r>
              <a:rPr lang="en-US" altLang="zh-CN" b="0" i="0" dirty="0">
                <a:effectLst/>
                <a:latin typeface="-apple-system"/>
              </a:rPr>
              <a:t>class</a:t>
            </a:r>
            <a:r>
              <a:rPr lang="en-US" b="0" i="0" dirty="0">
                <a:effectLst/>
                <a:latin typeface="-apple-system"/>
              </a:rPr>
              <a:t>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585"/>
          </a:solidFill>
          <a:ln w="12700">
            <a:solidFill>
              <a:srgbClr val="0E9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548640"/>
            <a:ext cx="2743200" cy="2743200"/>
          </a:xfrm>
          <a:prstGeom prst="ellipse">
            <a:avLst/>
          </a:prstGeom>
          <a:solidFill>
            <a:srgbClr val="1A3A6E">
              <a:alpha val="60000"/>
            </a:srgbClr>
          </a:solidFill>
          <a:ln w="12700">
            <a:solidFill>
              <a:srgbClr val="1A3A6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0" y="274320"/>
            <a:ext cx="1828800" cy="1828800"/>
          </a:xfrm>
          <a:prstGeom prst="ellipse">
            <a:avLst/>
          </a:prstGeom>
          <a:solidFill>
            <a:srgbClr val="0E9585">
              <a:alpha val="30000"/>
            </a:srgbClr>
          </a:solidFill>
          <a:ln w="12700">
            <a:solidFill>
              <a:srgbClr val="0E958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005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E9585"/>
                </a:solidFill>
              </a:rPr>
              <a:t>FINAL PROJECT  ·  ELEVATOR PITCH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11480" y="1417320"/>
            <a:ext cx="7772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Scalable LLM-backed</a:t>
            </a:r>
            <a:endParaRPr lang="en-US" sz="38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800" b="1" dirty="0">
                <a:solidFill>
                  <a:srgbClr val="FFFFFF"/>
                </a:solidFill>
              </a:rPr>
              <a:t>Q&amp;A System with RAG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1148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</a:rPr>
              <a:t>Retrieval-Augmented Generation · Scalability Experiments · Observability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3931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Yalin Sun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0E9585">
              <a:alpha val="30000"/>
            </a:srgbClr>
          </a:solidFill>
          <a:ln w="12700">
            <a:solidFill>
              <a:srgbClr val="0E9585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9585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3840480" cy="418338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28016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" y="28803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Keyword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Search Fails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82880" y="3703320"/>
            <a:ext cx="3474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Teams have lots of docs.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Answers span multiple files.</a:t>
            </a:r>
            <a:endParaRPr lang="en-US" sz="12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200" dirty="0">
                <a:solidFill>
                  <a:srgbClr val="94A3B8"/>
                </a:solidFill>
              </a:rPr>
              <a:t>Users ask real questions.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114800" y="1188720"/>
            <a:ext cx="4754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4114800" y="1188720"/>
            <a:ext cx="64008" cy="658368"/>
          </a:xfrm>
          <a:prstGeom prst="rect">
            <a:avLst/>
          </a:prstGeom>
          <a:solidFill>
            <a:srgbClr val="0E9585"/>
          </a:solidFill>
          <a:ln w="12700">
            <a:solidFill>
              <a:srgbClr val="0E9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31673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800600" y="130759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Internal docs: notes, policies, specs are siloed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114800" y="2011680"/>
            <a:ext cx="4754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4114800" y="2011680"/>
            <a:ext cx="64008" cy="658368"/>
          </a:xfrm>
          <a:prstGeom prst="rect">
            <a:avLst/>
          </a:prstGeom>
          <a:solidFill>
            <a:srgbClr val="0E9585"/>
          </a:solidFill>
          <a:ln w="12700">
            <a:solidFill>
              <a:srgbClr val="0E9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2139696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800600" y="213055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Keyword search misses context and semantic meaning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114800" y="2834640"/>
            <a:ext cx="4754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4114800" y="2834640"/>
            <a:ext cx="64008" cy="658368"/>
          </a:xfrm>
          <a:prstGeom prst="rect">
            <a:avLst/>
          </a:prstGeom>
          <a:solidFill>
            <a:srgbClr val="0E9585"/>
          </a:solidFill>
          <a:ln w="12700">
            <a:solidFill>
              <a:srgbClr val="0E9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97680" y="2962656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800600" y="295351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Users ask natural questions, not keyword queries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4114800" y="3657600"/>
            <a:ext cx="47548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508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4114800" y="3657600"/>
            <a:ext cx="64008" cy="658368"/>
          </a:xfrm>
          <a:prstGeom prst="rect">
            <a:avLst/>
          </a:prstGeom>
          <a:solidFill>
            <a:srgbClr val="0E9585"/>
          </a:solidFill>
          <a:ln w="12700">
            <a:solidFill>
              <a:srgbClr val="0E9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0" y="3785616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800600" y="3776472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LLM alone lacks domain-specific private knowledge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9585"/>
                </a:solidFill>
              </a:rPr>
              <a:t>HOW IT WORKS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1828800" cy="1417320"/>
          </a:xfrm>
          <a:prstGeom prst="rect">
            <a:avLst/>
          </a:prstGeom>
          <a:solidFill>
            <a:srgbClr val="1A73B8"/>
          </a:solidFill>
          <a:ln w="12700">
            <a:solidFill>
              <a:srgbClr val="1A73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1143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11480" y="15727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Upload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Docs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2176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</a:rPr>
              <a:t>Text / Markdown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40280" y="1783080"/>
            <a:ext cx="32004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23160" y="170078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60320" y="1143000"/>
            <a:ext cx="1828800" cy="1417320"/>
          </a:xfrm>
          <a:prstGeom prst="rect">
            <a:avLst/>
          </a:prstGeom>
          <a:solidFill>
            <a:srgbClr val="0E9585"/>
          </a:solidFill>
          <a:ln w="12700">
            <a:solidFill>
              <a:srgbClr val="0E9585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0" y="1143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560320" y="15727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Chunk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Text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60320" y="2176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</a:rPr>
              <a:t>Split into segments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389120" y="1783080"/>
            <a:ext cx="32004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0" y="170078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1143000"/>
            <a:ext cx="1828800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09160" y="1143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709160" y="15727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Build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Embedding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709160" y="2176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</a:rPr>
              <a:t>Vector representation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537960" y="1783080"/>
            <a:ext cx="32004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720840" y="170078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</a:rPr>
              <a:t>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58000" y="1143000"/>
            <a:ext cx="1828800" cy="1417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858000" y="1143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858000" y="1572768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Store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Index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858000" y="217627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FFFFFF"/>
                </a:solidFill>
              </a:rPr>
              <a:t>Vector DB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1480" y="2834640"/>
            <a:ext cx="83210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29077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0E9585"/>
                </a:solidFill>
              </a:rPr>
              <a:t>AT QUERY TIME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11480" y="3246120"/>
            <a:ext cx="1463040" cy="14173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11480" y="32461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5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11480" y="363931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User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Question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1874520" y="37490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075688" y="3246120"/>
            <a:ext cx="1463040" cy="1417320"/>
          </a:xfrm>
          <a:prstGeom prst="rect">
            <a:avLst/>
          </a:prstGeom>
          <a:solidFill>
            <a:srgbClr val="1A73B8"/>
          </a:solidFill>
          <a:ln w="12700">
            <a:solidFill>
              <a:srgbClr val="1A73B8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075688" y="32461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6</a:t>
            </a:r>
            <a:endParaRPr lang="en-US" sz="1700" dirty="0"/>
          </a:p>
        </p:txBody>
      </p:sp>
      <p:sp>
        <p:nvSpPr>
          <p:cNvPr id="34" name="Text 32"/>
          <p:cNvSpPr/>
          <p:nvPr/>
        </p:nvSpPr>
        <p:spPr>
          <a:xfrm>
            <a:off x="2075688" y="363931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Embed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Query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3538728" y="37490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739896" y="3246120"/>
            <a:ext cx="1463040" cy="1417320"/>
          </a:xfrm>
          <a:prstGeom prst="rect">
            <a:avLst/>
          </a:prstGeom>
          <a:solidFill>
            <a:srgbClr val="0E9585"/>
          </a:solidFill>
          <a:ln w="12700">
            <a:solidFill>
              <a:srgbClr val="0E9585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739896" y="32461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7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3739896" y="363931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Retrieve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Top-K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202936" y="37490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04104" y="3246120"/>
            <a:ext cx="1463040" cy="1417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404104" y="32461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8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5404104" y="363931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LLM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Generate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6867144" y="3749040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</a:rPr>
              <a:t>▶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068312" y="3246120"/>
            <a:ext cx="1463040" cy="1417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068312" y="324612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9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7068312" y="363931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Grounded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Answer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411480" y="4681728"/>
            <a:ext cx="8321040" cy="347472"/>
          </a:xfrm>
          <a:prstGeom prst="rect">
            <a:avLst/>
          </a:prstGeom>
          <a:solidFill>
            <a:srgbClr val="CCEFE9"/>
          </a:solidFill>
          <a:ln w="12700">
            <a:solidFill>
              <a:srgbClr val="0E9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502920" y="4681728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</a:rPr>
              <a:t>Key insight: answers are grounded in retrieved document content — not just the model's parametric memory.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9585"/>
                </a:solidFill>
              </a:rPr>
              <a:t>SYSTEM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</a:rPr>
              <a:t>Docker Compose — Independent, Scalable Services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19202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365760" y="1463040"/>
            <a:ext cx="1920240" cy="411480"/>
          </a:xfrm>
          <a:prstGeom prst="rect">
            <a:avLst/>
          </a:prstGeom>
          <a:solidFill>
            <a:srgbClr val="1A73B8"/>
          </a:solidFill>
          <a:ln w="12700">
            <a:solidFill>
              <a:srgbClr val="1A7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1527048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19385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API Service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2450592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FastAPI · Routes queries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and document ingestion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468880" y="1463040"/>
            <a:ext cx="19202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468880" y="1463040"/>
            <a:ext cx="1920240" cy="4114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4680" y="1527048"/>
            <a:ext cx="548640" cy="5486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468880" y="19385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Embedding Service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2468880" y="2450592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Encodes text chunks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and query vectors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572000" y="1463040"/>
            <a:ext cx="19202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4572000" y="1463040"/>
            <a:ext cx="1920240" cy="411480"/>
          </a:xfrm>
          <a:prstGeom prst="rect">
            <a:avLst/>
          </a:prstGeom>
          <a:solidFill>
            <a:srgbClr val="0E9585"/>
          </a:solidFill>
          <a:ln w="12700">
            <a:solidFill>
              <a:srgbClr val="0E9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57800" y="1527048"/>
            <a:ext cx="548640" cy="5486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572000" y="19385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Vector Search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4572000" y="2450592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FAISS / Qdrant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Indexes and retrieves chunks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675120" y="1463040"/>
            <a:ext cx="19202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6"/>
          <p:cNvSpPr/>
          <p:nvPr/>
        </p:nvSpPr>
        <p:spPr>
          <a:xfrm>
            <a:off x="6675120" y="1463040"/>
            <a:ext cx="1920240" cy="4114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60920" y="1527048"/>
            <a:ext cx="548640" cy="5486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675120" y="193852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</a:rPr>
              <a:t>LLM Inference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6675120" y="2450592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Calls LLM with prompt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+ retrieved context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2286000" y="2468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E9585"/>
                </a:solidFill>
              </a:rPr>
              <a:t>↔</a:t>
            </a:r>
            <a:endParaRPr lang="en-US" sz="1800" dirty="0"/>
          </a:p>
        </p:txBody>
      </p:sp>
      <p:sp>
        <p:nvSpPr>
          <p:cNvPr id="26" name="Text 20"/>
          <p:cNvSpPr/>
          <p:nvPr/>
        </p:nvSpPr>
        <p:spPr>
          <a:xfrm>
            <a:off x="4389120" y="2468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E9585"/>
                </a:solidFill>
              </a:rPr>
              <a:t>↔</a:t>
            </a:r>
            <a:endParaRPr lang="en-US" sz="1800" dirty="0"/>
          </a:p>
        </p:txBody>
      </p:sp>
      <p:sp>
        <p:nvSpPr>
          <p:cNvPr id="27" name="Text 21"/>
          <p:cNvSpPr/>
          <p:nvPr/>
        </p:nvSpPr>
        <p:spPr>
          <a:xfrm>
            <a:off x="6492240" y="246888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E9585"/>
                </a:solidFill>
              </a:rPr>
              <a:t>↔</a:t>
            </a:r>
            <a:endParaRPr lang="en-US" sz="1800" dirty="0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3995928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841248" y="39776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Scale each tier independently</a:t>
            </a:r>
            <a:endParaRPr lang="en-US" sz="1250" dirty="0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315968"/>
            <a:ext cx="256032" cy="25603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41248" y="42976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Identify bottlenecks precisely</a:t>
            </a:r>
            <a:endParaRPr lang="en-US" sz="1250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636008"/>
            <a:ext cx="256032" cy="256032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41248" y="4617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293B"/>
                </a:solidFill>
              </a:rPr>
              <a:t>Replicate the hot tier on demand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0E9585"/>
                </a:solidFill>
              </a:rPr>
              <a:t>EXPERIMENTS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2606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606040" cy="457200"/>
          </a:xfrm>
          <a:prstGeom prst="rect">
            <a:avLst/>
          </a:prstGeom>
          <a:solidFill>
            <a:srgbClr val="1A73B8"/>
          </a:solidFill>
          <a:ln w="12700">
            <a:solidFill>
              <a:srgbClr val="1A73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143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719072"/>
            <a:ext cx="594360" cy="5943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23774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</a:rPr>
              <a:t>Concurrency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94360" y="2807208"/>
            <a:ext cx="2057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57200" y="2880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4748B"/>
                </a:solidFill>
              </a:rPr>
              <a:t>What happens to latency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4748B"/>
                </a:solidFill>
              </a:rPr>
              <a:t>under increasing load?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57200" y="354787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10 → 50 → 200 concurrent users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Measure: Mean latency &amp; P95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154680" y="1143000"/>
            <a:ext cx="2606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3154680" y="1143000"/>
            <a:ext cx="2606040" cy="457200"/>
          </a:xfrm>
          <a:prstGeom prst="rect">
            <a:avLst/>
          </a:prstGeom>
          <a:solidFill>
            <a:srgbClr val="0E9585"/>
          </a:solidFill>
          <a:ln w="12700">
            <a:solidFill>
              <a:srgbClr val="0E9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3154680" y="1143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719072"/>
            <a:ext cx="594360" cy="5943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154680" y="23774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</a:rPr>
              <a:t>Index Scale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3429000" y="2807208"/>
            <a:ext cx="2057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4"/>
          <p:cNvSpPr/>
          <p:nvPr/>
        </p:nvSpPr>
        <p:spPr>
          <a:xfrm>
            <a:off x="3291840" y="2880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4748B"/>
                </a:solidFill>
              </a:rPr>
              <a:t>How does index size affect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4748B"/>
                </a:solidFill>
              </a:rPr>
              <a:t>retrieval performance?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3291840" y="354787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1K → 10K → 100K chunks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Measure: Retrieval latency &amp; memory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5989320" y="1143000"/>
            <a:ext cx="260604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7"/>
          <p:cNvSpPr/>
          <p:nvPr/>
        </p:nvSpPr>
        <p:spPr>
          <a:xfrm>
            <a:off x="5989320" y="1143000"/>
            <a:ext cx="2606040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5989320" y="114300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1719072"/>
            <a:ext cx="594360" cy="59436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989320" y="23774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</a:rPr>
              <a:t>Horizontal Scaling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6263640" y="2807208"/>
            <a:ext cx="2057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6126480" y="28803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4748B"/>
                </a:solidFill>
              </a:rPr>
              <a:t>Does adding replicas give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64748B"/>
                </a:solidFill>
              </a:rPr>
              <a:t>linear throughput gains?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6126480" y="3547872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1 → 2 → 4 replicas of bottleneck tier</a:t>
            </a:r>
            <a:endParaRPr lang="en-US" sz="105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050" dirty="0">
                <a:solidFill>
                  <a:srgbClr val="1E293B"/>
                </a:solidFill>
              </a:rPr>
              <a:t>Measure: Throughput &amp; diminishing returns</a:t>
            </a:r>
            <a:endParaRPr lang="en-US" sz="1050" dirty="0"/>
          </a:p>
        </p:txBody>
      </p:sp>
      <p:sp>
        <p:nvSpPr>
          <p:cNvPr id="28" name="Shape 23"/>
          <p:cNvSpPr/>
          <p:nvPr/>
        </p:nvSpPr>
        <p:spPr>
          <a:xfrm>
            <a:off x="320040" y="4663440"/>
            <a:ext cx="8503920" cy="347472"/>
          </a:xfrm>
          <a:prstGeom prst="rect">
            <a:avLst/>
          </a:prstGeom>
          <a:solidFill>
            <a:srgbClr val="CCEFE9"/>
          </a:solidFill>
          <a:ln w="12700">
            <a:solidFill>
              <a:srgbClr val="0E9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4"/>
          <p:cNvSpPr/>
          <p:nvPr/>
        </p:nvSpPr>
        <p:spPr>
          <a:xfrm>
            <a:off x="457200" y="46634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93B"/>
                </a:solidFill>
              </a:rPr>
              <a:t>All experiments tracked with clear metrics, enabling data-driven decisions about where to optimize.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286000"/>
            <a:ext cx="4572000" cy="4572000"/>
          </a:xfrm>
          <a:prstGeom prst="ellipse">
            <a:avLst/>
          </a:prstGeom>
          <a:solidFill>
            <a:srgbClr val="1A3A6E">
              <a:alpha val="50000"/>
            </a:srgbClr>
          </a:solidFill>
          <a:ln w="12700">
            <a:solidFill>
              <a:srgbClr val="1A3A6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E9585">
              <a:alpha val="25000"/>
            </a:srgbClr>
          </a:solidFill>
          <a:ln w="12700">
            <a:solidFill>
              <a:srgbClr val="0E9585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585"/>
          </a:solidFill>
          <a:ln w="12700">
            <a:solidFill>
              <a:srgbClr val="0E9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640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0E9585"/>
                </a:solidFill>
              </a:rPr>
              <a:t>IMPACT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6400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Not just a RAG demo —</a:t>
            </a:r>
            <a:endParaRPr lang="en-US" sz="2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a production-ready system.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2569464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251460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RAG under real load with clear measurements</a:t>
            </a:r>
            <a:endParaRPr lang="en-US" sz="14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17296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14400" y="3118104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Full observability: latency, throughput, P95</a:t>
            </a:r>
            <a:endParaRPr lang="en-US" sz="14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3776472"/>
            <a:ext cx="347472" cy="34747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14400" y="3721608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</a:rPr>
              <a:t>Shareable: Docker + scripts for classmates to test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411480" y="4343400"/>
            <a:ext cx="4114800" cy="594360"/>
          </a:xfrm>
          <a:prstGeom prst="rect">
            <a:avLst/>
          </a:prstGeom>
          <a:solidFill>
            <a:srgbClr val="0E9585"/>
          </a:solidFill>
          <a:ln w="12700">
            <a:solidFill>
              <a:srgbClr val="0E95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411480" y="434340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Thank You  ·  Questions Welcome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692</Words>
  <Application>Microsoft Macintosh PowerPoint</Application>
  <PresentationFormat>On-screen Show (16:9)</PresentationFormat>
  <Paragraphs>115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-apple-system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Scalable RAG Q&amp;A System</dc:title>
  <dc:subject>PptxGenJS Presentation</dc:subject>
  <dc:creator>Yalin Sun</dc:creator>
  <cp:lastModifiedBy>Yalin Sun</cp:lastModifiedBy>
  <cp:revision>2</cp:revision>
  <dcterms:created xsi:type="dcterms:W3CDTF">2026-04-02T21:04:45Z</dcterms:created>
  <dcterms:modified xsi:type="dcterms:W3CDTF">2026-04-02T21:25:10Z</dcterms:modified>
</cp:coreProperties>
</file>